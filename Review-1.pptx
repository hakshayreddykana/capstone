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57" r:id="rId4"/>
    <p:sldId id="258" r:id="rId5"/>
    <p:sldId id="259" r:id="rId6"/>
    <p:sldId id="260" r:id="rId7"/>
    <p:sldId id="261" r:id="rId8"/>
    <p:sldId id="264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82" y="3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1T09:29:18.987"/>
    </inkml:context>
    <inkml:brush xml:id="br0">
      <inkml:brushProperty name="width" value="0.035" units="cm"/>
      <inkml:brushProperty name="height" value="0.035" units="cm"/>
      <inkml:brushProperty name="color" value="#F3F4F6"/>
    </inkml:brush>
  </inkml:definitions>
  <inkml:trace contextRef="#ctx0" brushRef="#br0">1072 19 24575,'-3'2'0,"-1"1"0,1-1 0,-1 0 0,1 0 0,-1 0 0,0 0 0,0-1 0,1 1 0,-1-1 0,0 0 0,0-1 0,-7 2 0,-54 0 0,44-2 0,-369 0 0,381-1 0,0 1 0,1 1 0,-1-1 0,0 1 0,1 1 0,-1 0 0,1 0 0,-1 1 0,1 0 0,0 0 0,0 1 0,0 0 0,1 0 0,-1 1 0,1 0 0,0 0 0,0 1 0,1-1 0,0 2 0,0-1 0,0 1 0,1 0 0,-5 7 0,9-11 0,-1-1 0,1 0 0,-1 1 0,0-1 0,1 0 0,-1 0 0,0 0 0,0 0 0,-1-1 0,1 1 0,0 0 0,-1-1 0,1 0 0,0 1 0,-1-1 0,0 0 0,1 0 0,-1-1 0,0 1 0,1 0 0,-1-1 0,-5 1 0,3-2 0,-1 0 0,0 0 0,0-1 0,0 0 0,1 0 0,-1 0 0,1 0 0,0-1 0,0 0 0,-7-5 0,-62-49 0,60 43 0,-2 2 0,1 0 0,-2 0 0,0 1 0,-27-12 0,22 19-1365,9 8-5461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1T09:29:23.714"/>
    </inkml:context>
    <inkml:brush xml:id="br0">
      <inkml:brushProperty name="width" value="0.35" units="cm"/>
      <inkml:brushProperty name="height" value="0.35" units="cm"/>
      <inkml:brushProperty name="color" value="#F3F4F6"/>
    </inkml:brush>
  </inkml:definitions>
  <inkml:trace contextRef="#ctx0" brushRef="#br0">1157 4 24492,'-1156'0'0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0405E-081E-4BE5-B13A-7B86838180DB}" type="datetimeFigureOut">
              <a:rPr lang="en-IN" smtClean="0"/>
              <a:t>07-11-2025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739C1-5894-4B5D-A948-5781FCBDC8D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30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0405E-081E-4BE5-B13A-7B86838180DB}" type="datetimeFigureOut">
              <a:rPr lang="en-IN" smtClean="0"/>
              <a:t>07-11-2025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739C1-5894-4B5D-A948-5781FCBDC8D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73951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0405E-081E-4BE5-B13A-7B86838180DB}" type="datetimeFigureOut">
              <a:rPr lang="en-IN" smtClean="0"/>
              <a:t>07-11-2025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739C1-5894-4B5D-A948-5781FCBDC8D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15746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0405E-081E-4BE5-B13A-7B86838180DB}" type="datetimeFigureOut">
              <a:rPr lang="en-IN" smtClean="0"/>
              <a:t>07-11-2025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739C1-5894-4B5D-A948-5781FCBDC8D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87676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0405E-081E-4BE5-B13A-7B86838180DB}" type="datetimeFigureOut">
              <a:rPr lang="en-IN" smtClean="0"/>
              <a:t>07-11-2025</a:t>
            </a:fld>
            <a:endParaRPr lang="en-IN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739C1-5894-4B5D-A948-5781FCBDC8D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0932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0405E-081E-4BE5-B13A-7B86838180DB}" type="datetimeFigureOut">
              <a:rPr lang="en-IN" smtClean="0"/>
              <a:t>07-11-2025</a:t>
            </a:fld>
            <a:endParaRPr lang="en-IN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739C1-5894-4B5D-A948-5781FCBDC8D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87381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0405E-081E-4BE5-B13A-7B86838180DB}" type="datetimeFigureOut">
              <a:rPr lang="en-IN" smtClean="0"/>
              <a:t>07-11-2025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739C1-5894-4B5D-A948-5781FCBDC8D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78890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0405E-081E-4BE5-B13A-7B86838180DB}" type="datetimeFigureOut">
              <a:rPr lang="en-IN" smtClean="0"/>
              <a:t>07-11-2025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739C1-5894-4B5D-A948-5781FCBDC8D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343009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0405E-081E-4BE5-B13A-7B86838180DB}" type="datetimeFigureOut">
              <a:rPr lang="en-IN" smtClean="0"/>
              <a:t>07-11-2025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739C1-5894-4B5D-A948-5781FCBDC8D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34505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0405E-081E-4BE5-B13A-7B86838180DB}" type="datetimeFigureOut">
              <a:rPr lang="en-IN" smtClean="0"/>
              <a:t>07-11-2025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739C1-5894-4B5D-A948-5781FCBDC8D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1397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0405E-081E-4BE5-B13A-7B86838180DB}" type="datetimeFigureOut">
              <a:rPr lang="en-IN" smtClean="0"/>
              <a:t>07-11-2025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739C1-5894-4B5D-A948-5781FCBDC8D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5232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F10405E-081E-4BE5-B13A-7B86838180DB}" type="datetimeFigureOut">
              <a:rPr lang="en-IN" smtClean="0"/>
              <a:t>07-11-2025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170739C1-5894-4B5D-A948-5781FCBDC8D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6441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customXml" Target="../ink/ink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835C6-2C0A-3148-A8B1-B4AE894609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00015" y="1570706"/>
            <a:ext cx="7315200" cy="3255264"/>
          </a:xfrm>
        </p:spPr>
        <p:txBody>
          <a:bodyPr>
            <a:normAutofit fontScale="90000"/>
          </a:bodyPr>
          <a:lstStyle/>
          <a:p>
            <a:r>
              <a:rPr lang="en-IN"/>
              <a:t>Explainable Artificial Intelligence framework for Robust Object Detection in Tactical Unmanned Vehicles (</a:t>
            </a:r>
            <a:r>
              <a:rPr lang="en-US"/>
              <a:t>XAI-UAV)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644516-407A-73EB-4B8E-D9B4FB7123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15" y="5178829"/>
            <a:ext cx="7315200" cy="864523"/>
          </a:xfrm>
        </p:spPr>
        <p:txBody>
          <a:bodyPr>
            <a:normAutofit/>
          </a:bodyPr>
          <a:lstStyle/>
          <a:p>
            <a:r>
              <a:rPr lang="en-US" b="1" i="1"/>
              <a:t>Under the Guidance of</a:t>
            </a:r>
            <a:endParaRPr lang="en-IN" b="1"/>
          </a:p>
          <a:p>
            <a:r>
              <a:rPr lang="en-IN"/>
              <a:t>Dr. </a:t>
            </a:r>
            <a:r>
              <a:rPr lang="en-IN" err="1"/>
              <a:t>Deepasikha</a:t>
            </a:r>
            <a:r>
              <a:rPr lang="en-IN"/>
              <a:t> Mishra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62BD28-6177-5DF2-576A-919F87D0F604}"/>
              </a:ext>
            </a:extLst>
          </p:cNvPr>
          <p:cNvSpPr txBox="1"/>
          <p:nvPr/>
        </p:nvSpPr>
        <p:spPr>
          <a:xfrm>
            <a:off x="9318567" y="847898"/>
            <a:ext cx="2784764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IN" sz="3600" b="1"/>
              <a:t>Review - 1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95ACE2-205A-18B6-B559-04E4B08A74A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1493" y="5153957"/>
            <a:ext cx="2470522" cy="76470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682813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2DFD9-7B45-873B-7BAB-B25B1F7A8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Proposal Report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671001-8D1A-AAD5-1104-5EB8F632C0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1448" y="635924"/>
            <a:ext cx="8025000" cy="5586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0736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26D89-64BB-1B1A-0364-1F7227C2E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9314DF-EBB6-A057-6FFB-E1E80EA0A6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ea typeface="+mn-lt"/>
                <a:cs typeface="+mn-lt"/>
              </a:rPr>
              <a:t>In high-stakes UAV applications like surveillance &amp; defense, AI must not only be fast, it must be explainable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Current object detection models used in drones (e.g., YOLO) are accurate, but behave like black boxes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Lack of transparency reduces trust, limits adoption, and poses risks in human-AI decision-making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We are motivated to bridge this gap by building a real-time, interpretable AI system for UAVs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Our solution merges model optimization (pruning) with visual explanations (Grad-CAM) — ensuring both performance and accountability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231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50127-1C81-FACE-BC84-600591FFB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80DDF-32AD-0A97-3D77-35AAF9A32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42C2C-A5E1-C1F8-BA69-56BEB9E1A5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ea typeface="+mn-lt"/>
                <a:cs typeface="+mn-lt"/>
              </a:rPr>
              <a:t>Identify and address the lack of explainability in UAV-based object detection systems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Optimize deep learning models (YOLOv5/YOLOv8) for real-time inference on edge devices (e.g., Jetson, FPGA)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Apply pruning to reduce model size while preserving performance and interpretability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Integrate explainability tools (Grad-CAM, Saliency Maps) into the UAV inference pipeline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Build a ground station interface that visualizes detections alongside their explanations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Evaluate detection accuracy (</a:t>
            </a:r>
            <a:r>
              <a:rPr lang="en-US" dirty="0" err="1">
                <a:ea typeface="+mn-lt"/>
                <a:cs typeface="+mn-lt"/>
              </a:rPr>
              <a:t>mAP</a:t>
            </a:r>
            <a:r>
              <a:rPr lang="en-US" dirty="0">
                <a:ea typeface="+mn-lt"/>
                <a:cs typeface="+mn-lt"/>
              </a:rPr>
              <a:t>, F1)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525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25534-67B7-C38C-A890-6B7B292C5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8FFBA-148C-7F3E-DCCB-37BE17C82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Hypothesis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183B80-E1B5-DE18-CF52-AFC9BDE1CB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ea typeface="+mn-lt"/>
                <a:cs typeface="+mn-lt"/>
              </a:rPr>
              <a:t>We hypothesize pruning can produce a lightweight YOLO model that is both accurate and interpretable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We propose that integrating XAI methods (Grad-CAM, Saliency Maps) with the deployed model will enable real-time visual explanations onboard UAVs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We believe this combination will allow UAV operators to understand and trust AI decisions without compromising performance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Our pipeline will maintain detection accuracy while also delivering explanation fidelity and stability, bridging the gap between efficiency and transparency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8124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5656B-80EE-76BF-EAF4-8A54CC890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5C080-2997-79B5-4EF9-8C1C9449D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Problem Survey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6BEDE-B54A-3E4E-191E-325832391E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800" b="1" dirty="0">
                <a:ea typeface="+mn-lt"/>
                <a:cs typeface="+mn-lt"/>
              </a:rPr>
              <a:t>State of the Art</a:t>
            </a:r>
            <a:endParaRPr lang="en-US" sz="1800" dirty="0"/>
          </a:p>
          <a:p>
            <a:pPr>
              <a:lnSpc>
                <a:spcPct val="100000"/>
              </a:lnSpc>
              <a:spcBef>
                <a:spcPts val="300"/>
              </a:spcBef>
              <a:buFont typeface="Wingdings 2"/>
              <a:buChar char=""/>
            </a:pPr>
            <a:r>
              <a:rPr lang="en-US" sz="1800" dirty="0">
                <a:ea typeface="+mn-lt"/>
                <a:cs typeface="+mn-lt"/>
              </a:rPr>
              <a:t>UAV object detection: </a:t>
            </a:r>
            <a:r>
              <a:rPr lang="en-US" sz="1800" i="1" dirty="0" err="1">
                <a:ea typeface="+mn-lt"/>
                <a:cs typeface="+mn-lt"/>
              </a:rPr>
              <a:t>VisDrone</a:t>
            </a:r>
            <a:r>
              <a:rPr lang="en-US" sz="1800" i="1" dirty="0">
                <a:ea typeface="+mn-lt"/>
                <a:cs typeface="+mn-lt"/>
              </a:rPr>
              <a:t>, UAVDT</a:t>
            </a:r>
            <a:r>
              <a:rPr lang="en-US" sz="1800" dirty="0">
                <a:ea typeface="+mn-lt"/>
                <a:cs typeface="+mn-lt"/>
              </a:rPr>
              <a:t> benchmarks; YOLOv5/YOLOv8 widely adopted for aerial vision.</a:t>
            </a:r>
          </a:p>
          <a:p>
            <a:pPr>
              <a:lnSpc>
                <a:spcPct val="100000"/>
              </a:lnSpc>
              <a:spcBef>
                <a:spcPts val="300"/>
              </a:spcBef>
              <a:buFont typeface="Wingdings 2"/>
              <a:buChar char=""/>
            </a:pPr>
            <a:r>
              <a:rPr lang="en-US" sz="1800" dirty="0">
                <a:ea typeface="+mn-lt"/>
                <a:cs typeface="+mn-lt"/>
              </a:rPr>
              <a:t>Edge AI deployments: </a:t>
            </a:r>
            <a:r>
              <a:rPr lang="en-US" sz="1800" i="1" dirty="0">
                <a:ea typeface="+mn-lt"/>
                <a:cs typeface="+mn-lt"/>
              </a:rPr>
              <a:t>Jetson Nano/Orin</a:t>
            </a:r>
            <a:r>
              <a:rPr lang="en-US" sz="1800" dirty="0">
                <a:ea typeface="+mn-lt"/>
                <a:cs typeface="+mn-lt"/>
              </a:rPr>
              <a:t> enable onboard inference but limited by resource constraints.</a:t>
            </a:r>
          </a:p>
          <a:p>
            <a:pPr>
              <a:lnSpc>
                <a:spcPct val="100000"/>
              </a:lnSpc>
              <a:spcBef>
                <a:spcPts val="300"/>
              </a:spcBef>
              <a:buFont typeface="Wingdings 2"/>
              <a:buChar char=""/>
            </a:pPr>
            <a:r>
              <a:rPr lang="en-US" sz="1800" dirty="0">
                <a:ea typeface="+mn-lt"/>
                <a:cs typeface="+mn-lt"/>
              </a:rPr>
              <a:t>XAI methods (Grad-CAM, Saliency Maps) are established in medical and NLP domains, rarely extended to UAV detection.</a:t>
            </a: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800" b="1" dirty="0">
                <a:ea typeface="+mn-lt"/>
                <a:cs typeface="+mn-lt"/>
              </a:rPr>
              <a:t>Limitations Identified</a:t>
            </a:r>
            <a:endParaRPr lang="en-US" sz="1800" dirty="0"/>
          </a:p>
          <a:p>
            <a:pPr>
              <a:lnSpc>
                <a:spcPct val="100000"/>
              </a:lnSpc>
              <a:spcBef>
                <a:spcPts val="300"/>
              </a:spcBef>
              <a:buFont typeface="Wingdings 2"/>
              <a:buChar char=""/>
            </a:pPr>
            <a:r>
              <a:rPr lang="en-US" sz="1800" dirty="0">
                <a:ea typeface="+mn-lt"/>
                <a:cs typeface="+mn-lt"/>
              </a:rPr>
              <a:t>Existing UAV research optimizes models for speed but overlooks interpretability.</a:t>
            </a:r>
            <a:endParaRPr lang="en-US" sz="1800" dirty="0"/>
          </a:p>
          <a:p>
            <a:pPr>
              <a:lnSpc>
                <a:spcPct val="100000"/>
              </a:lnSpc>
              <a:spcBef>
                <a:spcPts val="300"/>
              </a:spcBef>
              <a:buFont typeface="Wingdings 2"/>
              <a:buChar char=""/>
            </a:pPr>
            <a:r>
              <a:rPr lang="en-US" sz="1800" dirty="0">
                <a:ea typeface="+mn-lt"/>
                <a:cs typeface="+mn-lt"/>
              </a:rPr>
              <a:t>No standardized inclusion of fidelity/stability metrics alongside accuracy.</a:t>
            </a:r>
            <a:endParaRPr lang="en-US" sz="1800" dirty="0"/>
          </a:p>
          <a:p>
            <a:pPr>
              <a:lnSpc>
                <a:spcPct val="100000"/>
              </a:lnSpc>
              <a:spcBef>
                <a:spcPts val="300"/>
              </a:spcBef>
              <a:buFont typeface="Wingdings 2"/>
              <a:buChar char=""/>
            </a:pPr>
            <a:r>
              <a:rPr lang="en-US" sz="1800" dirty="0">
                <a:ea typeface="+mn-lt"/>
                <a:cs typeface="+mn-lt"/>
              </a:rPr>
              <a:t>Edge pruning is often magnitude-based, risks accuracy drop and ignores explainability.</a:t>
            </a:r>
            <a:endParaRPr lang="en-US" sz="1800" dirty="0"/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800" b="1" dirty="0">
                <a:ea typeface="+mn-lt"/>
                <a:cs typeface="+mn-lt"/>
              </a:rPr>
              <a:t>Premise of Proposal</a:t>
            </a:r>
            <a:endParaRPr lang="en-US" sz="1800" dirty="0"/>
          </a:p>
          <a:p>
            <a:pPr>
              <a:lnSpc>
                <a:spcPct val="100000"/>
              </a:lnSpc>
              <a:spcBef>
                <a:spcPts val="300"/>
              </a:spcBef>
              <a:buFont typeface="Wingdings 2"/>
              <a:buChar char=""/>
            </a:pPr>
            <a:r>
              <a:rPr lang="en-US" sz="1800" dirty="0">
                <a:ea typeface="+mn-lt"/>
                <a:cs typeface="+mn-lt"/>
              </a:rPr>
              <a:t>Introduce pruning: interpretable model compression.</a:t>
            </a:r>
            <a:endParaRPr lang="en-US" sz="1800" dirty="0"/>
          </a:p>
          <a:p>
            <a:pPr>
              <a:lnSpc>
                <a:spcPct val="100000"/>
              </a:lnSpc>
              <a:spcBef>
                <a:spcPts val="300"/>
              </a:spcBef>
              <a:buFont typeface="Wingdings 2"/>
              <a:buChar char=""/>
            </a:pPr>
            <a:r>
              <a:rPr lang="en-US" sz="1800" dirty="0">
                <a:ea typeface="+mn-lt"/>
                <a:cs typeface="+mn-lt"/>
              </a:rPr>
              <a:t>Integrate real-time explainability engine in UAV object detection pipeline.</a:t>
            </a:r>
            <a:endParaRPr lang="en-US" sz="1800" dirty="0"/>
          </a:p>
          <a:p>
            <a:pPr>
              <a:lnSpc>
                <a:spcPct val="100000"/>
              </a:lnSpc>
              <a:spcBef>
                <a:spcPts val="300"/>
              </a:spcBef>
              <a:buFont typeface="Wingdings 2"/>
              <a:buChar char=""/>
            </a:pPr>
            <a:r>
              <a:rPr lang="en-US" sz="1800" dirty="0">
                <a:ea typeface="+mn-lt"/>
                <a:cs typeface="+mn-lt"/>
              </a:rPr>
              <a:t>Deliver trustworthy, operator-validated UAV AI that balances accuracy, efficiency, and transparency.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97808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FEC8B-ABFA-F055-17C1-AABA9BA24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4AEB2-04B3-1AD7-5B6A-3E032FAE4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Subject Knowledge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DFAE16-44ED-86D7-1FA1-ACF72FD6B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indent="0">
              <a:buNone/>
            </a:pPr>
            <a:endParaRPr lang="en-US" sz="1800" b="1" dirty="0"/>
          </a:p>
          <a:p>
            <a:pPr marL="0" indent="0">
              <a:buNone/>
            </a:pPr>
            <a:endParaRPr lang="en-US" sz="1800" b="1" dirty="0"/>
          </a:p>
          <a:p>
            <a:pPr marL="0" indent="0">
              <a:buNone/>
            </a:pPr>
            <a:endParaRPr lang="en-US" sz="1800" b="1" dirty="0"/>
          </a:p>
          <a:p>
            <a:pPr marL="0" indent="0">
              <a:buNone/>
            </a:pPr>
            <a:endParaRPr lang="en-US" sz="1800" b="1" dirty="0"/>
          </a:p>
          <a:p>
            <a:pPr marL="0" indent="0">
              <a:buNone/>
            </a:pPr>
            <a:endParaRPr lang="en-US" sz="1800" b="1" dirty="0"/>
          </a:p>
          <a:p>
            <a:pPr marL="0" indent="0">
              <a:buNone/>
            </a:pPr>
            <a:r>
              <a:rPr lang="en-US" sz="1800" b="1" dirty="0"/>
              <a:t>Object Detection Models</a:t>
            </a:r>
            <a:endParaRPr lang="en-US" sz="1800" dirty="0"/>
          </a:p>
          <a:p>
            <a:r>
              <a:rPr lang="en-US" sz="1800" dirty="0">
                <a:ea typeface="+mn-lt"/>
                <a:cs typeface="+mn-lt"/>
              </a:rPr>
              <a:t>YOLO family: single-shot, real-time detection</a:t>
            </a:r>
            <a:endParaRPr lang="en-US" sz="1800" dirty="0"/>
          </a:p>
          <a:p>
            <a:r>
              <a:rPr lang="en-US" sz="1800" dirty="0">
                <a:ea typeface="+mn-lt"/>
                <a:cs typeface="+mn-lt"/>
              </a:rPr>
              <a:t>Trained on UAV-specific datasets (</a:t>
            </a:r>
            <a:r>
              <a:rPr lang="en-US" sz="1800" dirty="0" err="1">
                <a:ea typeface="+mn-lt"/>
                <a:cs typeface="+mn-lt"/>
              </a:rPr>
              <a:t>VisDrone</a:t>
            </a:r>
            <a:r>
              <a:rPr lang="en-US" sz="1800" dirty="0">
                <a:ea typeface="+mn-lt"/>
                <a:cs typeface="+mn-lt"/>
              </a:rPr>
              <a:t>, UAVDT)</a:t>
            </a:r>
            <a:endParaRPr lang="en-US" sz="1800" dirty="0"/>
          </a:p>
          <a:p>
            <a:r>
              <a:rPr lang="en-US" sz="1800" dirty="0">
                <a:ea typeface="+mn-lt"/>
                <a:cs typeface="+mn-lt"/>
              </a:rPr>
              <a:t>Balancing accuracy (</a:t>
            </a:r>
            <a:r>
              <a:rPr lang="en-US" sz="1800" dirty="0" err="1">
                <a:ea typeface="+mn-lt"/>
                <a:cs typeface="+mn-lt"/>
              </a:rPr>
              <a:t>mAP</a:t>
            </a:r>
            <a:r>
              <a:rPr lang="en-US" sz="1800" dirty="0">
                <a:ea typeface="+mn-lt"/>
                <a:cs typeface="+mn-lt"/>
              </a:rPr>
              <a:t>) vs. efficiency (FPS, latency) is critical for UAV hardware</a:t>
            </a:r>
            <a:endParaRPr lang="en-US" sz="1800" dirty="0"/>
          </a:p>
          <a:p>
            <a:pPr>
              <a:buNone/>
            </a:pPr>
            <a:r>
              <a:rPr lang="en-US" sz="1800" b="1" dirty="0"/>
              <a:t>Optimization</a:t>
            </a:r>
            <a:endParaRPr lang="en-US" sz="1800" dirty="0"/>
          </a:p>
          <a:p>
            <a:pPr>
              <a:buFont typeface="Wingdings 2,Sans-Serif"/>
              <a:buChar char=""/>
            </a:pPr>
            <a:r>
              <a:rPr lang="en-US" sz="1800" b="1" dirty="0"/>
              <a:t>Pruning</a:t>
            </a:r>
            <a:r>
              <a:rPr lang="en-US" sz="1800" dirty="0"/>
              <a:t>:</a:t>
            </a:r>
            <a:endParaRPr lang="en-US" sz="1800" dirty="0">
              <a:solidFill>
                <a:srgbClr val="000000"/>
              </a:solidFill>
            </a:endParaRPr>
          </a:p>
          <a:p>
            <a:pPr marL="971550" lvl="1" indent="-285750">
              <a:buFont typeface="Wingdings 2,Sans-Serif"/>
              <a:buChar char=""/>
            </a:pPr>
            <a:r>
              <a:rPr lang="en-US" dirty="0"/>
              <a:t>Uses BN values to rank neuron importance</a:t>
            </a:r>
            <a:endParaRPr lang="en-US" dirty="0">
              <a:solidFill>
                <a:srgbClr val="000000"/>
              </a:solidFill>
            </a:endParaRPr>
          </a:p>
          <a:p>
            <a:pPr marL="971550" lvl="1" indent="-285750">
              <a:buFont typeface="Wingdings 2,Sans-Serif"/>
              <a:buChar char=""/>
            </a:pPr>
            <a:r>
              <a:rPr lang="en-US" dirty="0"/>
              <a:t>Retains interpretability while reducing parameters</a:t>
            </a:r>
            <a:endParaRPr lang="en-US" dirty="0">
              <a:solidFill>
                <a:srgbClr val="000000"/>
              </a:solidFill>
            </a:endParaRPr>
          </a:p>
          <a:p>
            <a:pPr>
              <a:buFont typeface="Wingdings 2,Sans-Serif"/>
              <a:buChar char=""/>
            </a:pPr>
            <a:r>
              <a:rPr lang="en-US" sz="1800" b="1" dirty="0"/>
              <a:t>Deployment Workflow</a:t>
            </a:r>
            <a:r>
              <a:rPr lang="en-US" sz="1800" dirty="0"/>
              <a:t>:</a:t>
            </a:r>
            <a:endParaRPr lang="en-US" sz="1800" dirty="0">
              <a:solidFill>
                <a:srgbClr val="000000"/>
              </a:solidFill>
            </a:endParaRPr>
          </a:p>
          <a:p>
            <a:pPr marL="971550" lvl="1" indent="-285750">
              <a:buFont typeface="Wingdings 2,Sans-Serif"/>
              <a:buChar char=""/>
            </a:pPr>
            <a:r>
              <a:rPr lang="en-US" dirty="0" err="1"/>
              <a:t>PyTorch</a:t>
            </a:r>
            <a:r>
              <a:rPr lang="en-US" dirty="0"/>
              <a:t> (training) → ONNX (intermediate format) → </a:t>
            </a:r>
            <a:r>
              <a:rPr lang="en-US" dirty="0" err="1"/>
              <a:t>TensorRT</a:t>
            </a:r>
            <a:r>
              <a:rPr lang="en-US" dirty="0"/>
              <a:t> (.engine model)</a:t>
            </a:r>
            <a:endParaRPr lang="en-US" dirty="0">
              <a:solidFill>
                <a:srgbClr val="000000"/>
              </a:solidFill>
            </a:endParaRPr>
          </a:p>
          <a:p>
            <a:pPr marL="971550" lvl="1" indent="-285750">
              <a:buFont typeface="Wingdings 2,Sans-Serif"/>
              <a:buChar char=""/>
            </a:pPr>
            <a:r>
              <a:rPr lang="en-US" dirty="0"/>
              <a:t>Runs efficiently on Jetson/FPGA hardware</a:t>
            </a:r>
          </a:p>
          <a:p>
            <a:pPr>
              <a:buNone/>
            </a:pPr>
            <a:endParaRPr lang="en-US" sz="1800" b="1" dirty="0"/>
          </a:p>
          <a:p>
            <a:pPr marL="0" indent="0">
              <a:buNone/>
            </a:pPr>
            <a:endParaRPr lang="en-US" sz="1800" dirty="0">
              <a:ea typeface="+mn-lt"/>
              <a:cs typeface="+mn-lt"/>
            </a:endParaRPr>
          </a:p>
          <a:p>
            <a:pPr marL="971550" lvl="1" indent="-285750">
              <a:buFont typeface="Wingdings 2"/>
              <a:buChar char=""/>
            </a:pP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endParaRPr lang="en-US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2756815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49944-600E-0D7C-2C6B-1BF8F2CD7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Subject</a:t>
            </a:r>
            <a:br>
              <a:rPr lang="en-IN"/>
            </a:br>
            <a:r>
              <a:rPr lang="en-IN"/>
              <a:t>Knowledge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7714F3-524D-267C-C479-CB0F1D29B8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800" b="1" dirty="0"/>
              <a:t>Evaluation Framework</a:t>
            </a:r>
            <a:endParaRPr lang="en-US" sz="1800" dirty="0"/>
          </a:p>
          <a:p>
            <a:pPr>
              <a:buFont typeface="Wingdings 2"/>
              <a:buChar char=""/>
            </a:pPr>
            <a:r>
              <a:rPr lang="en-US" sz="1800" b="1" dirty="0"/>
              <a:t>Accuracy:</a:t>
            </a:r>
            <a:r>
              <a:rPr lang="en-US" sz="1800" dirty="0"/>
              <a:t> </a:t>
            </a:r>
            <a:r>
              <a:rPr lang="en-US" sz="1800" dirty="0" err="1"/>
              <a:t>mAP</a:t>
            </a:r>
            <a:r>
              <a:rPr lang="en-US" sz="1800" dirty="0"/>
              <a:t>, F1-score</a:t>
            </a:r>
            <a:endParaRPr lang="en-US" sz="1800" dirty="0">
              <a:solidFill>
                <a:srgbClr val="000000"/>
              </a:solidFill>
            </a:endParaRPr>
          </a:p>
          <a:p>
            <a:pPr>
              <a:buFont typeface="Wingdings 2"/>
              <a:buChar char=""/>
            </a:pPr>
            <a:r>
              <a:rPr lang="en-US" sz="1800" b="1" dirty="0"/>
              <a:t>Efficiency:</a:t>
            </a:r>
            <a:r>
              <a:rPr lang="en-US" sz="1800" dirty="0"/>
              <a:t> Latency per frame</a:t>
            </a:r>
            <a:endParaRPr lang="en-US" sz="1800" dirty="0">
              <a:solidFill>
                <a:srgbClr val="000000"/>
              </a:solidFill>
            </a:endParaRPr>
          </a:p>
          <a:p>
            <a:pPr>
              <a:buNone/>
            </a:pPr>
            <a:r>
              <a:rPr lang="en-US" sz="1800" b="1" dirty="0"/>
              <a:t>Explainability Methods</a:t>
            </a:r>
            <a:endParaRPr lang="en-US" sz="1800" dirty="0">
              <a:solidFill>
                <a:srgbClr val="000000"/>
              </a:solidFill>
            </a:endParaRPr>
          </a:p>
          <a:p>
            <a:pPr>
              <a:buFont typeface="Wingdings 2,Sans-Serif"/>
              <a:buChar char=""/>
            </a:pPr>
            <a:r>
              <a:rPr lang="en-US" sz="1800" b="1" dirty="0"/>
              <a:t>Grad-CAM:</a:t>
            </a:r>
            <a:r>
              <a:rPr lang="en-US" sz="1800" dirty="0"/>
              <a:t> Highlights </a:t>
            </a:r>
            <a:r>
              <a:rPr lang="en-US" sz="1800" i="1" dirty="0"/>
              <a:t>which regions in feature maps</a:t>
            </a:r>
            <a:r>
              <a:rPr lang="en-US" sz="1800" dirty="0"/>
              <a:t> drive detections</a:t>
            </a:r>
            <a:endParaRPr lang="en-US" sz="1800" dirty="0">
              <a:solidFill>
                <a:srgbClr val="000000"/>
              </a:solidFill>
            </a:endParaRPr>
          </a:p>
          <a:p>
            <a:pPr>
              <a:buFont typeface="Wingdings 2,Sans-Serif"/>
              <a:buChar char=""/>
            </a:pPr>
            <a:r>
              <a:rPr lang="en-US" sz="1800" b="1" dirty="0"/>
              <a:t>Saliency Maps:</a:t>
            </a:r>
            <a:r>
              <a:rPr lang="en-US" sz="1800" dirty="0"/>
              <a:t> Pixel-level sensitivity showing </a:t>
            </a:r>
            <a:r>
              <a:rPr lang="en-US" sz="1800" i="1" dirty="0"/>
              <a:t>why detection confidence changes</a:t>
            </a:r>
            <a:endParaRPr lang="en-US" sz="1800" dirty="0">
              <a:solidFill>
                <a:srgbClr val="000000"/>
              </a:solidFill>
            </a:endParaRPr>
          </a:p>
          <a:p>
            <a:pPr>
              <a:buFont typeface="Wingdings 2,Sans-Serif"/>
              <a:buChar char=""/>
            </a:pPr>
            <a:r>
              <a:rPr lang="en-US" sz="1800" b="1" dirty="0"/>
              <a:t>SHAP:</a:t>
            </a:r>
            <a:r>
              <a:rPr lang="en-US" sz="1800" dirty="0"/>
              <a:t> Quantifies </a:t>
            </a:r>
            <a:r>
              <a:rPr lang="en-US" sz="1800" i="1" dirty="0"/>
              <a:t>numerical importance</a:t>
            </a:r>
            <a:r>
              <a:rPr lang="en-US" sz="1800" dirty="0"/>
              <a:t> of image regions to predictions</a:t>
            </a:r>
          </a:p>
        </p:txBody>
      </p:sp>
    </p:spTree>
    <p:extLst>
      <p:ext uri="{BB962C8B-B14F-4D97-AF65-F5344CB8AC3E}">
        <p14:creationId xmlns:p14="http://schemas.microsoft.com/office/powerpoint/2010/main" val="3286729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00F0F-9D20-3BDA-7424-2759A6200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09244-E234-9F56-1DE7-42EB6986A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Time Plan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5B0B1CA-F322-578A-8317-7903C4F8E9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204" t="6987" r="5840"/>
          <a:stretch>
            <a:fillRect/>
          </a:stretch>
        </p:blipFill>
        <p:spPr>
          <a:xfrm>
            <a:off x="3491344" y="1128408"/>
            <a:ext cx="8237913" cy="460118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F562BC3E-0EAE-E0B2-2E5E-FD2DEC906E9C}"/>
                  </a:ext>
                </a:extLst>
              </p14:cNvPr>
              <p14:cNvContentPartPr/>
              <p14:nvPr/>
            </p14:nvContentPartPr>
            <p14:xfrm>
              <a:off x="3654360" y="1722175"/>
              <a:ext cx="385920" cy="6228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F562BC3E-0EAE-E0B2-2E5E-FD2DEC906E9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648240" y="1716055"/>
                <a:ext cx="39816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B82D1334-FDBD-53D0-D721-C78F96EFF9E8}"/>
                  </a:ext>
                </a:extLst>
              </p14:cNvPr>
              <p14:cNvContentPartPr/>
              <p14:nvPr/>
            </p14:nvContentPartPr>
            <p14:xfrm>
              <a:off x="3681720" y="1762135"/>
              <a:ext cx="416520" cy="7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B82D1334-FDBD-53D0-D721-C78F96EFF9E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618720" y="1636135"/>
                <a:ext cx="542160" cy="25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165012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0544F16-9142-4827-EA59-3053C36735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4204577"/>
          </a:xfrm>
        </p:spPr>
        <p:txBody>
          <a:bodyPr anchor="ctr"/>
          <a:lstStyle/>
          <a:p>
            <a:r>
              <a:rPr lang="en-IN"/>
              <a:t>Thank you!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EDBFDDD-AED8-5917-28AF-C02E3E2AB779}"/>
              </a:ext>
            </a:extLst>
          </p:cNvPr>
          <p:cNvSpPr txBox="1">
            <a:spLocks/>
          </p:cNvSpPr>
          <p:nvPr/>
        </p:nvSpPr>
        <p:spPr>
          <a:xfrm>
            <a:off x="9277005" y="868680"/>
            <a:ext cx="2747048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None/>
              <a:defRPr sz="2200" kern="1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>
                <a:solidFill>
                  <a:schemeClr val="tx1"/>
                </a:solidFill>
              </a:rPr>
              <a:t>Team members:</a:t>
            </a:r>
          </a:p>
          <a:p>
            <a:pPr algn="just"/>
            <a:r>
              <a:rPr lang="en-IN" sz="1400" err="1">
                <a:solidFill>
                  <a:schemeClr val="tx1"/>
                </a:solidFill>
              </a:rPr>
              <a:t>Konakalla</a:t>
            </a:r>
            <a:r>
              <a:rPr lang="en-IN" sz="1400">
                <a:solidFill>
                  <a:schemeClr val="tx1"/>
                </a:solidFill>
              </a:rPr>
              <a:t> Rishitha        </a:t>
            </a:r>
            <a:r>
              <a:rPr lang="en-I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22BCE7331</a:t>
            </a:r>
          </a:p>
          <a:p>
            <a:pPr algn="just"/>
            <a:r>
              <a:rPr lang="en-IN" sz="1400">
                <a:solidFill>
                  <a:schemeClr val="tx1"/>
                </a:solidFill>
              </a:rPr>
              <a:t>Kana Hakshay Reddy  </a:t>
            </a:r>
            <a:r>
              <a:rPr lang="en-I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22BCE9807</a:t>
            </a:r>
          </a:p>
          <a:p>
            <a:r>
              <a:rPr lang="en-IN" sz="1400">
                <a:solidFill>
                  <a:schemeClr val="tx1"/>
                </a:solidFill>
              </a:rPr>
              <a:t>Appala Pranav Sai         </a:t>
            </a:r>
            <a:r>
              <a:rPr lang="en-I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22BCE7558</a:t>
            </a:r>
          </a:p>
        </p:txBody>
      </p:sp>
    </p:spTree>
    <p:extLst>
      <p:ext uri="{BB962C8B-B14F-4D97-AF65-F5344CB8AC3E}">
        <p14:creationId xmlns:p14="http://schemas.microsoft.com/office/powerpoint/2010/main" val="2214895856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Custom 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0000"/>
      </a:accent1>
      <a:accent2>
        <a:srgbClr val="ED7D31"/>
      </a:accent2>
      <a:accent3>
        <a:srgbClr val="A5A5A5"/>
      </a:accent3>
      <a:accent4>
        <a:srgbClr val="FFC000"/>
      </a:accent4>
      <a:accent5>
        <a:srgbClr val="000000"/>
      </a:accent5>
      <a:accent6>
        <a:srgbClr val="70AD47"/>
      </a:accent6>
      <a:hlink>
        <a:srgbClr val="0563C1"/>
      </a:hlink>
      <a:folHlink>
        <a:srgbClr val="954F72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548</Words>
  <Application>Microsoft Office PowerPoint</Application>
  <PresentationFormat>Widescreen</PresentationFormat>
  <Paragraphs>70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Corbel</vt:lpstr>
      <vt:lpstr>Times New Roman</vt:lpstr>
      <vt:lpstr>Wingdings 2</vt:lpstr>
      <vt:lpstr>Wingdings 2,Sans-Serif</vt:lpstr>
      <vt:lpstr>Frame</vt:lpstr>
      <vt:lpstr>Explainable Artificial Intelligence framework for Robust Object Detection in Tactical Unmanned Vehicles (XAI-UAV)</vt:lpstr>
      <vt:lpstr>Proposal Report</vt:lpstr>
      <vt:lpstr>Motivation</vt:lpstr>
      <vt:lpstr>Objectives</vt:lpstr>
      <vt:lpstr>Hypothesis</vt:lpstr>
      <vt:lpstr>Problem Survey</vt:lpstr>
      <vt:lpstr>Subject Knowledge</vt:lpstr>
      <vt:lpstr>Subject Knowledge</vt:lpstr>
      <vt:lpstr>Time Plan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Explainable Artificial Intelligence framework for Robust Object Detection in Tactical Unmanned Vehicles (XAI-UAV)</dc:title>
  <dc:creator>HAKSHAY REDDY</dc:creator>
  <cp:lastModifiedBy>HAKSHAY REDDY</cp:lastModifiedBy>
  <cp:revision>4</cp:revision>
  <dcterms:created xsi:type="dcterms:W3CDTF">2025-09-01T04:40:18Z</dcterms:created>
  <dcterms:modified xsi:type="dcterms:W3CDTF">2025-11-07T09:37:01Z</dcterms:modified>
</cp:coreProperties>
</file>